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0116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ĐẠI HỌC TRÀ VINH  –  TRƯỜNG KỸ THUẬT VÀ CÔNG NGHỆ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XÂY DỰNG HỆ THỐNG HỖ TRỢ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HỌC NGỮ ÂM TIẾNG ANH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TÍCH HỢP GAMIFICATION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828800" y="3474720"/>
            <a:ext cx="54864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11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GVHD: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ThS. GVC. Phan Thị Phương Nam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069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SVTH: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Huỳnh Phước Thọ  –  MSSV: 110122169  –  Lớp: DA22TTC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75488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Vĩnh Long, tháng 06 năm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914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NỘI DUNG TRÌNH BÀY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14984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14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9601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vấn đề &amp; Lý do chọn đề tài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72821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đích &amp; Phạm vi nghiên cứu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65760" y="2551176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51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49631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Nghiên cứu lý thuyết (IPA &amp; Gamification)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65760" y="3319272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319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26440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 sử dụng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65760" y="4087368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087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032504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yêu cầu &amp; Sơ đồ Use Case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846320" y="1014984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014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0" y="9601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dữ liệu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846320" y="178308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0" y="1728216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– Giao diện người học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846320" y="2551176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551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94960" y="249631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– Giao diện quản trị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846320" y="3319272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319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94960" y="326440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&amp; Hướng phát triển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914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CHƯƠNG 1 – ĐẶT VẤN ĐỀ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EF2F2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98755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âm là rào cản lớn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âm vị tiếng Việt và tiếng Anh khác nhau đáng kể. Tiếng Việt là ngôn ngữ thanh điệu, không có phụ âm cuối phức tạp.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CE8"/>
          </a:solidFill>
          <a:ln w="12700">
            <a:solidFill>
              <a:srgbClr val="D4B20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31343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 động lực luyện tập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6974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học bắt đầu hăng hái rồi bỏ dở vì không thấy tiến bộ rõ ràng hoặc thiếu mục tiêu ngắn hạn.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356616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EDF7ED"/>
          </a:solidFill>
          <a:ln w="12700">
            <a:solidFill>
              <a:srgbClr val="86C785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63931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pháp: Gamification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40233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 điểm thưởng, huy hiệu và bảng xếp hạng giúp tăng tỷ lệ người học hoàn thành và quay lại ôn tập.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914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ĐÍCH &amp; PHẠM VI NGHIÊN CỨU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840480"/>
          </a:xfrm>
          <a:prstGeom prst="roundRect">
            <a:avLst>
              <a:gd name="adj" fmla="val 2381"/>
            </a:avLst>
          </a:prstGeom>
          <a:solidFill>
            <a:srgbClr val="EEF6FB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Mục đích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Luyện phát âm theo chuẩn IPA với phản hồi tức thì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Duy trì thói quen qua cơ chế Gamification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Theo dõi tiến trình, ghi nhận thành tích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Cung cấp giao diện quản trị nội dung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4023360" cy="3840480"/>
          </a:xfrm>
          <a:prstGeom prst="roundRect">
            <a:avLst>
              <a:gd name="adj" fmla="val 2381"/>
            </a:avLst>
          </a:prstGeom>
          <a:solidFill>
            <a:srgbClr val="EEF6FB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005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Phạm vi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55448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chủ đề: Nguyên âm, Phụ âm, Cặp âm tối thiểu, Trọng âm – Nối âm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Nhận dạng giọng nói qua Web Speech API (trình duyệt)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Không phân tích âm vị học sâu (không AI trả phí)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Ứng dụng web (Next.js), không phát triển mobile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914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NGHIÊN CỨU LÝ THUYẾT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phiên âm quốc tế IPA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1417320"/>
            <a:ext cx="4206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âm vị tiếng Anh (20 nguyên âm + 24 phụ âm)
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 chức thành nhóm: đơn âm, đôi âm, hữu thanh/vô thanh
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Cặp âm tối thiểu (minimal pairs) – luyện phân biệt âm
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Trọng âm (word stress) và nối âm (connected speech)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617720" y="868680"/>
            <a:ext cx="0" cy="393192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914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trong giáo dục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14173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&amp; Cấp độ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766560" y="14173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nhận mỗi hành động học tập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754880" y="20756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766560" y="207568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Thói quen học hàng ngày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54880" y="273405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Huy hiệu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766560" y="273405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tích cụ thể, bản sắc riêng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54880" y="339242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xếp hạng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766560" y="339242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Cạnh tranh lành mạnh, tuần/tháng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54880" y="40507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Nhiệm vụ &amp; Vòng quay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766560" y="405079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 mở app mỗi ngày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914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CÔNG NGHỆ SỬ DỤNG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01168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9875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3533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Fullstack Framework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6276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Router, SSR/CSR, API Routes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14400"/>
            <a:ext cx="201168" cy="1188720"/>
          </a:xfrm>
          <a:prstGeom prst="rect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1768" y="9875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7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01768" y="13533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Ngôn ngữ lập trình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01768" y="16276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Type-safe, interface, generics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86000"/>
            <a:ext cx="201168" cy="1188720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359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" y="27249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dữ liệu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29992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MVCC, JSONB, quan hệ chặt chẽ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228600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286000"/>
            <a:ext cx="20116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01768" y="2359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01768" y="27249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Object-Relational Mapping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01768" y="29992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Migrate, Studio, type-safe query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57600"/>
            <a:ext cx="201168" cy="1188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7307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6928" y="40965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" y="43708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Utility-first, responsive, dark mode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09160" y="365760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657600"/>
            <a:ext cx="201168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01768" y="37307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01768" y="40965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dạng giọng nói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01768" y="43708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SpeechRecognition + SpeechSynthesis, miễn phí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914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TÍCH YÊU CẦU – SƠ ĐỒ USE CASE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Người học (~20 use case)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/ Đăng nhập (email + Google)
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bảng IPA tương tác (44 âm vị)
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chủ đề &amp; cấp độ học
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hiện 4 loại bài tập
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kết quả sau mỗi bài
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tiến trình, EXP, cấp độ
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huy hiệu, bảng xếp hạng
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Nhiệm vụ hàng ngày, cửa hàng vật phẩm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05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Quản trị viên (~12 use case)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với role Admin
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Dashboard – thống kê tổng quan
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người dùng
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chủ đề &amp; cấp độ
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bài tập &amp; câu hỏi
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file âm thanh
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Gamification (huy hiệu, nhiệm vụ)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914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CHẾ ĐỘ BÀI TẬP LUYỆN PHÁT ÂM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691640"/>
          </a:xfrm>
          <a:prstGeom prst="roundRect">
            <a:avLst>
              <a:gd name="adj" fmla="val 6486"/>
            </a:avLst>
          </a:prstGeom>
          <a:solidFill>
            <a:srgbClr val="F0F9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👂  Luyện Tai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Nghe phân biệt âm, chọn từ đúng theo âm vừa nghe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914400"/>
            <a:ext cx="4206240" cy="1691640"/>
          </a:xfrm>
          <a:prstGeom prst="roundRect">
            <a:avLst>
              <a:gd name="adj" fmla="val 6486"/>
            </a:avLst>
          </a:prstGeom>
          <a:solidFill>
            <a:srgbClr val="F0F9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51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Luyện Miệng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Nói lại từ/câu, Web Speech API nhận dạng &amp; so khớp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" y="2834640"/>
            <a:ext cx="4206240" cy="1691640"/>
          </a:xfrm>
          <a:prstGeom prst="roundRect">
            <a:avLst>
              <a:gd name="adj" fmla="val 6486"/>
            </a:avLst>
          </a:prstGeom>
          <a:solidFill>
            <a:srgbClr val="F0F9FF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971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Thử Thách Kép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" y="34747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hợp cả nghe và nói trong cùng một phiên học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09160" y="2834640"/>
            <a:ext cx="4206240" cy="1691640"/>
          </a:xfrm>
          <a:prstGeom prst="roundRect">
            <a:avLst>
              <a:gd name="adj" fmla="val 6486"/>
            </a:avLst>
          </a:prstGeom>
          <a:solidFill>
            <a:srgbClr val="F0F9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2971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Thực Chiến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937760" y="34747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hỗn hợp ngẫu nhiên, kiểm tra tổng thể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Ngưỡng hoàn thành: 80% để mở chế độ tiếp theo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914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THIẾT KẾ CƠ SỞ DỮ LIỆU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8046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bảng, PostgreSQL, Prisma ORM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2062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25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&amp; Phân quyền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USER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(NextAuth)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&amp; tiến trình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234440"/>
            <a:ext cx="42062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325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học tập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92040" y="17373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TOPIC, LEVEL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LEARNINGMAP, EXERCISE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QUESTION, ANSWEROPTION, AUDIOFILE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017520"/>
            <a:ext cx="42062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108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 &amp; Kết quả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EXERCISEATTEMPT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QuestionAttempt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3017520"/>
            <a:ext cx="42062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3108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892040" y="35204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BADGE, LEADERBOARD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Quest, Item, Inventory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SpinWheel, DailyReward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914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– GIAO DIỆN NGƯỜI HỌC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0F9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241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/ Đăng nhập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4630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Google OAuth, màn hình chào mừng &amp; hướng dẫn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0F9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0241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chủ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37560" y="14630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cá nhân: EXP, cấp độ, streak, nhiệm vụ hôm nay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91440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0F9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0241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IPA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640" y="14630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âm vị tương tác, nghe phát âm mẫu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0F9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99008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4290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 4 chủ đề, hiển thị tiến trình hoàn thành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0" y="288036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0F9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37560" y="299008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làm bài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34290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chế độ bài tập, phản hồi tức thì sau mỗi câu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288036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0F9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63640" y="299008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342900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Huy hiệu, cửa hàng, kho vật phẩm, bảng xếp hạng, vòng quay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914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– GIAO DIỆN QUẢN TRỊ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14300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005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60120" y="14173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số tổng quan: tổng người dùng, bài tập, lượt làm bài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73752" y="1143000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1005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người dùng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394960" y="14173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danh sách, tìm kiếm, lọc theo trạng thái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" y="251460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377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nội dung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27889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đề, cấp độ, learning map – CRUD đầy đủ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28600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73752" y="2514600"/>
            <a:ext cx="411480" cy="41148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2377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bài tập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394960" y="27889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Tạo, sửa, xóa bài tập &amp; câu hỏi từng loại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65760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" y="388620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749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âm thanh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60120" y="41605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quản lý file mp3 cho từng từ/câu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365760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73752" y="3886200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3749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Gamification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394960" y="41605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Huy hiệu, nhiệm vụ, vật phẩm, vòng quay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914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HẠN CHẾ CỦA HỆ THỐNG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03327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Nhận dạng giọng nói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43560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 thuộc trình duyệt – độ chính xác thay đổi theo môi trường ghi âm, chất lượng micro và cách phát âm cá nhân.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35915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Đánh giá phát âm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76148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Mới dừng ở mức so sánh chuỗi ký tự với đáp án mẫu. Chưa phân tích sâu lỗi theo âm vị hay vị trí đặt lưỡi.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8229600" cy="1143000"/>
          </a:xfrm>
          <a:prstGeom prst="roundRect">
            <a:avLst>
              <a:gd name="adj" fmla="val 6400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68503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Báo cáo quản trị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408736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biểu đồ thống kê và phân tích chuyên sâu cần được hoàn thiện thêm trong phiên bản sau.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914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HƯỚNG PHÁT TRIỂN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241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102412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kho nội dung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từ vựng, cặp minimal pairs, file âm thanh chuẩn và dạng bài tập mới cho từng nhóm âm.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206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0241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0" y="102412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Cải thiện đánh giá phát âm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572768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mô hình xử lý âm thanh/AI để đưa ra phản hồi theo từng âm vị, gợi ý lỗi phổ biến.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206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99008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560" y="299008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Gamification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538728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thưởng theo mốc học, cá nhân hóa mục tiêu, thách đấu theo nhóm.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880360"/>
            <a:ext cx="4206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99008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0" y="299008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Mobile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538728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báo nhắc học, hỗ trợ ngoại tuyến, cải thiện trải nghiệm trên thiết bị di động.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9144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LUẬN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EE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IPA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200400" y="10058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chủ đề, 100+ bài học, 8 dạng câu hỏi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1051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00400" y="181051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EXP, streak, huy hiệu, bảng xếp hạng, nhiệm vụ, cửa hàng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523744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EE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15184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00400" y="2615184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TypeScript + PostgreSQL + Prisma + Web Speech API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328416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1985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dữ liệu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200400" y="3419856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bảng, kiến trúc client-server hoàn chỉnh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133088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EE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22452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200400" y="422452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học ~20 màn hình + Quản trị ~6 màn hình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đã xây dựng được nền tảng học ngữ âm tiếng Anh có tính thực nghiệm và khả năng mở rộng.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74320"/>
            <a:ext cx="2743200" cy="27432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0" y="731520"/>
            <a:ext cx="1828800" cy="182880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XIN CẢM ƠN!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Rất mong nhận được nhận xét và đóng góp từ Quý Thầy/Cô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0" y="3383280"/>
            <a:ext cx="45720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566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thực hiện: Huỳnh Phước Thọ  |  MSSV: 110122169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GVHD: ThS. GVC. Phan Thị Phương Nam  |  Lớp: DA22TTC  |  Tháng 06/2026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Xây dựng hệ thống hỗ trợ học ngữ âm tiếng Anh tích hợp Gamification</dc:title>
  <dc:subject>PptxGenJS Presentation</dc:subject>
  <dc:creator>PptxGenJS</dc:creator>
  <cp:lastModifiedBy>PptxGenJS</cp:lastModifiedBy>
  <cp:revision>1</cp:revision>
  <dcterms:created xsi:type="dcterms:W3CDTF">2026-06-29T09:43:04Z</dcterms:created>
  <dcterms:modified xsi:type="dcterms:W3CDTF">2026-06-29T09:43:04Z</dcterms:modified>
</cp:coreProperties>
</file>